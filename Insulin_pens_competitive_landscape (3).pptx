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5486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118872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86384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6517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INSULIN PENS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COMPETITIVE LANDSCAPE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MARKET INTELLIGENCE BRIEF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7452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Shruti Sharma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7452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→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Landscape 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ownership vs. technology sophistication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 i="1">
                <a:solidFill>
                  <a:srgbClr val="5B7B7F"/>
                </a:solidFill>
              </a:rPr>
              <a:t>Scope: conventional and connected insulin-pen platforms. Owen Mumford's Aidaptus is shown as an adjacent auto-injector benchmark, not a direct insulin-pen competitor.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88720" y="1874520"/>
            <a:ext cx="676656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874520"/>
            <a:ext cx="0" cy="5349240"/>
          </a:xfrm>
          <a:prstGeom prst="line">
            <a:avLst/>
          </a:prstGeom>
          <a:noFill/>
          <a:ln w="19050">
            <a:solidFill>
              <a:srgbClr val="DCE9E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188720" y="4549140"/>
            <a:ext cx="6766560" cy="0"/>
          </a:xfrm>
          <a:prstGeom prst="line">
            <a:avLst/>
          </a:prstGeom>
          <a:noFill/>
          <a:ln w="19050">
            <a:solidFill>
              <a:srgbClr val="DCE9E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188720" y="15819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/ CONNECTED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188720" y="72694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/ BASIC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88720" y="754380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MANUFACTURER  →  DEVICE / TECH SPECIALIST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88720" y="78638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900" i="1">
                <a:solidFill>
                  <a:srgbClr val="5B7B7F"/>
                </a:solidFill>
              </a:rPr>
              <a:t>Methodology: directional qualitative score based on connectivity, automated dose tracking, app/CGM integration and decision support. No market-share or unit-volume inference.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04872" y="2539746"/>
            <a:ext cx="274320" cy="274320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56717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Nordisk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04872" y="4411980"/>
            <a:ext cx="274320" cy="274320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73352" y="47320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 Lilly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04872" y="3877056"/>
            <a:ext cx="274320" cy="274320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73352" y="3602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Sanofi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03136" y="2272284"/>
            <a:ext cx="274320" cy="274320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22997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Medtronic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41464" y="5481828"/>
            <a:ext cx="274320" cy="274320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9944" y="58018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Owen Mumford</a:t>
            </a:r>
            <a:endParaRPr lang="en-US" sz="1100" dirty="0"/>
          </a:p>
        </p:txBody>
      </p:sp>
      <p:sp>
        <p:nvSpPr>
          <p:cNvPr id="22" name="TextBox 21"/>
          <p:cNvSpPr txBox="1"/>
          <p:nvPr/>
        </p:nvSpPr>
        <p:spPr>
          <a:xfrm>
            <a:off x="640080" y="8613648"/>
            <a:ext cx="7863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i="1">
                <a:solidFill>
                  <a:srgbClr val="5B7B7F"/>
                </a:solidFill>
              </a:rPr>
              <a:t>Analyst synthesis based on cited public company / manufacturer materials | August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 on the 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calls worth flagging explicitly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78638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500" b="1">
                <a:solidFill>
                  <a:srgbClr val="05464A"/>
                </a:solidFill>
              </a:rPr>
              <a:t>Eli Lilly — current position reflects Tempo transition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sz="1300">
                <a:solidFill>
                  <a:srgbClr val="05464A"/>
                </a:solidFill>
              </a:rPr>
              <a:t>Lilly's Tempo Smart Button was a connected add-on for Tempo Pen, with automated insulin-dose data capture and app integration. Lilly's current materials indicate the Tempo platform is being wound down by the end of 2026; the map therefore reflects the current transition rather than Tempo's historical capability.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78638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500" b="1">
                <a:solidFill>
                  <a:srgbClr val="05464A"/>
                </a:solidFill>
              </a:rPr>
              <a:t>Owen Mumford — axis blind spot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sz="1300">
                <a:solidFill>
                  <a:srgbClr val="05464A"/>
                </a:solidFill>
              </a:rPr>
              <a:t>Aidaptus is an advanced next-generation auto-injector platform, but its differentiation is primarily mechanical/manufacturing rather than digital connectivity. Its lower position on this axis reflects the framework definition — not a judgement on engineering sophistication.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6675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00" i="1">
                <a:solidFill>
                  <a:srgbClr val="5B7B7F"/>
                </a:solidFill>
              </a:rPr>
              <a:t>Sources: Lilly Tempo materials; embecta Owen Mumford acquisition materials. Full source list on final slide.</a:t>
            </a:r>
            <a:endParaRPr lang="en-US" sz="1100" dirty="0"/>
          </a:p>
        </p:txBody>
      </p:sp>
      <p:sp>
        <p:nvSpPr>
          <p:cNvPr id="11" name="TextBox 10"/>
          <p:cNvSpPr txBox="1"/>
          <p:nvPr/>
        </p:nvSpPr>
        <p:spPr>
          <a:xfrm>
            <a:off x="640080" y="8613648"/>
            <a:ext cx="7863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i="1">
                <a:solidFill>
                  <a:srgbClr val="5B7B7F"/>
                </a:solidFill>
              </a:rPr>
              <a:t>Analyst synthesis based on cited public company / manufacturer materials | August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400" b="1">
                <a:solidFill>
                  <a:srgbClr val="05464A"/>
                </a:solidFill>
              </a:rPr>
              <a:t>Cost Architecture: What Changes with a Smart Pen?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00" i="1">
                <a:solidFill>
                  <a:srgbClr val="5B7B7F"/>
                </a:solidFill>
              </a:rPr>
              <a:t>Conventional prefilled vs. reusable connected architecture — a directional procurement lens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78638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1">
                <a:solidFill>
                  <a:srgbClr val="05464A"/>
                </a:solidFill>
              </a:rPr>
              <a:t>Mechanical / delivery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03320" y="1554480"/>
            <a:ext cx="39776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1050">
                <a:solidFill>
                  <a:srgbClr val="05464A"/>
                </a:solidFill>
              </a:rPr>
              <a:t>Core injection mechanism remains the main physical cost base; smart designs add complexity rather than replacing the delivery function.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212848"/>
            <a:ext cx="7863840" cy="658368"/>
          </a:xfrm>
          <a:prstGeom prst="rect">
            <a:avLst/>
          </a:prstGeom>
          <a:solidFill>
            <a:srgbClr val="EFF6F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1284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1">
                <a:solidFill>
                  <a:srgbClr val="05464A"/>
                </a:solidFill>
              </a:rPr>
              <a:t>Electronics &amp; connectivity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03320" y="2212848"/>
            <a:ext cx="39776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1050">
                <a:solidFill>
                  <a:srgbClr val="05464A"/>
                </a:solidFill>
              </a:rPr>
              <a:t>Smart pens add electronics, memory/connectivity and related components that conventional pens do not require.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871216"/>
            <a:ext cx="78638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71216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1">
                <a:solidFill>
                  <a:srgbClr val="05464A"/>
                </a:solidFill>
              </a:rPr>
              <a:t>Software &amp; data layer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3320" y="2871216"/>
            <a:ext cx="39776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1050">
                <a:solidFill>
                  <a:srgbClr val="05464A"/>
                </a:solidFill>
              </a:rPr>
              <a:t>Connected products add apps, data capture, integration and ongoing software support beyond the physical pen.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529584"/>
            <a:ext cx="7863840" cy="658368"/>
          </a:xfrm>
          <a:prstGeom prst="rect">
            <a:avLst/>
          </a:prstGeom>
          <a:solidFill>
            <a:srgbClr val="EFF6F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529584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1">
                <a:solidFill>
                  <a:srgbClr val="05464A"/>
                </a:solidFill>
              </a:rPr>
              <a:t>Validation &amp; lifecycle support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3529584"/>
            <a:ext cx="39776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1050">
                <a:solidFill>
                  <a:srgbClr val="05464A"/>
                </a:solidFill>
              </a:rPr>
              <a:t>Connected systems require broader device + software validation and can create additional support / maintenance requirements.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187952"/>
            <a:ext cx="78638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8795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1">
                <a:solidFill>
                  <a:srgbClr val="05464A"/>
                </a:solidFill>
              </a:rPr>
              <a:t>Use &amp; replacement model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03320" y="4187952"/>
            <a:ext cx="39776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1050">
                <a:solidFill>
                  <a:srgbClr val="05464A"/>
                </a:solidFill>
              </a:rPr>
              <a:t>Reusable smart pens and disposable prefilled pens have different replacement cycles — so unit cost alone is not a like-for-like TCO comparison.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7863840" cy="1417320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230368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sz="1300" i="1">
                <a:solidFill>
                  <a:srgbClr val="FFFFFF"/>
                </a:solidFill>
              </a:rPr>
              <a:t>The smart-pen premium is better understood as a cost architecture than a single hardware markup: electronics, software/data, validation and lifecycle requirements add cost layers — while reusable vs. disposable design changes the replacement economics.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6766560"/>
            <a:ext cx="78638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6931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00" b="1">
                <a:solidFill>
                  <a:srgbClr val="00899A"/>
                </a:solidFill>
              </a:rPr>
              <a:t>Why this matters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7223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sz="1000" i="1">
                <a:solidFill>
                  <a:srgbClr val="5B7B7F"/>
                </a:solidFill>
              </a:rPr>
              <a:t>Public product materials support the feature differences above, but they do not disclose manufacturer BOM, COGS or category-level cost multipliers. This slide therefore avoids unsupported numerical estimates.</a:t>
            </a:r>
            <a:endParaRPr lang="en-US" sz="1150" dirty="0"/>
          </a:p>
        </p:txBody>
      </p:sp>
      <p:sp>
        <p:nvSpPr>
          <p:cNvPr id="24" name="TextBox 23"/>
          <p:cNvSpPr txBox="1"/>
          <p:nvPr/>
        </p:nvSpPr>
        <p:spPr>
          <a:xfrm>
            <a:off x="640080" y="8613648"/>
            <a:ext cx="7863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i="1">
                <a:solidFill>
                  <a:srgbClr val="5B7B7F"/>
                </a:solidFill>
              </a:rPr>
              <a:t>Analyst synthesis based on cited public company / manufacturer materials | August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Is Headed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year outlook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7863840" cy="82296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2400" b="1">
                <a:solidFill>
                  <a:srgbClr val="05464A"/>
                </a:solidFill>
              </a:rPr>
              <a:t>A “COEXISTENCE” MARKET, NOT A TAKEOVER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300" b="1">
                <a:solidFill>
                  <a:srgbClr val="05464A"/>
                </a:solidFill>
              </a:rPr>
              <a:t>Working hypothesis: smart pens expand over the next 2–3 years, but conventional pens remain the scale segment.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37947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520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00" b="1">
                <a:solidFill>
                  <a:srgbClr val="00899A"/>
                </a:solidFill>
              </a:rPr>
              <a:t>DRIVERS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84048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sz="1200">
                <a:solidFill>
                  <a:srgbClr val="05464A"/>
                </a:solidFill>
              </a:rPr>
              <a:t>Automated dose capture, digital diabetes management and CGM/app integration create value for selected users — particularly where connected care can improve visibility without moving to an insulin pump.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3337560"/>
            <a:ext cx="37947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520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00" b="1">
                <a:solidFill>
                  <a:srgbClr val="00899A"/>
                </a:solidFill>
              </a:rPr>
              <a:t>BARRIERS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384048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sz="1200">
                <a:solidFill>
                  <a:srgbClr val="05464A"/>
                </a:solidFill>
              </a:rPr>
              <a:t>Affordability, reimbursement, device complexity and the need to adopt a supporting digital ecosystem can constrain broad replacement of conventional pens.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8580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sz="1200">
                <a:solidFill>
                  <a:srgbClr val="05464A"/>
                </a:solidFill>
              </a:rPr>
              <a:t>Strategic implication: the evidence points to segmentation rather than winner-takes-all adoption — conventional pens retain the accessibility/scale proposition, while smart pens compete where connectivity and clinical utility justify added complexity.</a:t>
            </a:r>
            <a:endParaRPr lang="en-US" sz="1300" dirty="0"/>
          </a:p>
        </p:txBody>
      </p:sp>
      <p:sp>
        <p:nvSpPr>
          <p:cNvPr id="14" name="TextBox 13"/>
          <p:cNvSpPr txBox="1"/>
          <p:nvPr/>
        </p:nvSpPr>
        <p:spPr>
          <a:xfrm>
            <a:off x="640080" y="8613648"/>
            <a:ext cx="7863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i="1">
                <a:solidFill>
                  <a:srgbClr val="5B7B7F"/>
                </a:solidFill>
              </a:rPr>
              <a:t>Analyst synthesis based on cited public company / manufacturer materials | August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Tells 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6245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500" b="1">
                <a:solidFill>
                  <a:srgbClr val="05464A"/>
                </a:solidFill>
              </a:rPr>
              <a:t>This is a coexistence market, not a takeover.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70992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sz="1200">
                <a:solidFill>
                  <a:srgbClr val="05464A"/>
                </a:solidFill>
              </a:rPr>
              <a:t>Conventional pens retain the accessibility and scale proposition; smart pens differentiate where connectivity and clinical utility justify added complexity.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9900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93522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500" b="1">
                <a:solidFill>
                  <a:srgbClr val="05464A"/>
                </a:solidFill>
              </a:rPr>
              <a:t>Device innovation becomes more valuable when paired with commercial scale.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3282696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sz="1200">
                <a:solidFill>
                  <a:srgbClr val="05464A"/>
                </a:solidFill>
              </a:rPr>
              <a:t>embecta's 2026 Owen Mumford acquisition explicitly combines Owen Mumford's device-design/manufacturing capabilities with embecta's global commercial and distribution infrastructure — illustrating the value of pairing engineering with reach.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56285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45079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500" b="1">
                <a:solidFill>
                  <a:srgbClr val="05464A"/>
                </a:solidFill>
              </a:rPr>
              <a:t>Device and software expertise can create competitive advantage without owning the drug.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4855464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sz="1200">
                <a:solidFill>
                  <a:srgbClr val="05464A"/>
                </a:solidFill>
              </a:rPr>
              <a:t>Medtronic's InPen combines automated dose logging, dose calculation, reminders and CGM-enabled functionality — showing how the delivery interface and software layer can differentiate a diabetes platform.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613562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6135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60807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500" b="1">
                <a:solidFill>
                  <a:srgbClr val="05464A"/>
                </a:solidFill>
              </a:rPr>
              <a:t>Owning both drug and device is a trade-off, not a pure win.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6428232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sz="1200">
                <a:solidFill>
                  <a:srgbClr val="05464A"/>
                </a:solidFill>
              </a:rPr>
              <a:t>Pharma ownership can strengthen control of the patient ecosystem, but external partnerships remain important for connecting insulin dosing with CGM, apps and digital-care capabilities.</a:t>
            </a:r>
            <a:endParaRPr lang="en-US" sz="1150" dirty="0"/>
          </a:p>
        </p:txBody>
      </p:sp>
      <p:sp>
        <p:nvSpPr>
          <p:cNvPr id="19" name="TextBox 18"/>
          <p:cNvSpPr txBox="1"/>
          <p:nvPr/>
        </p:nvSpPr>
        <p:spPr>
          <a:xfrm>
            <a:off x="640080" y="8613648"/>
            <a:ext cx="7863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i="1">
                <a:solidFill>
                  <a:srgbClr val="5B7B7F"/>
                </a:solidFill>
              </a:rPr>
              <a:t>Analyst synthesis based on cited public company / manufacturer materials | August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50292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105156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335024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1887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50">
                <a:solidFill>
                  <a:srgbClr val="E1F0EF"/>
                </a:solidFill>
              </a:rPr>
              <a:t>Novo Nordisk — NovoPen 6 / Echo Plus smart-pen capabilities and app/CGM connections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837944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916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50">
                <a:solidFill>
                  <a:srgbClr val="E1F0EF"/>
                </a:solidFill>
              </a:rPr>
              <a:t>Medtronic — InPen product, dose calculator, dose logging and CGM / Smart MDI materials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340864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1945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50">
                <a:solidFill>
                  <a:srgbClr val="E1F0EF"/>
                </a:solidFill>
              </a:rPr>
              <a:t>Eli Lilly — Tempo platform and Tempo Smart Button materials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843784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6974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50">
                <a:solidFill>
                  <a:srgbClr val="E1F0EF"/>
                </a:solidFill>
              </a:rPr>
              <a:t>embecta — Owen Mumford acquisition announcement (Mar 19, 2026) and completion (May 15, 2026)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346704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2004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50">
                <a:solidFill>
                  <a:srgbClr val="E1F0EF"/>
                </a:solidFill>
              </a:rPr>
              <a:t>Abbott — connected diabetes partnerships with Novo Nordisk and Sanofi; FreeStyle Libre + insulin-data integration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849624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7033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50" i="1">
                <a:solidFill>
                  <a:srgbClr val="B4CDCB"/>
                </a:solidFill>
              </a:rPr>
              <a:t>Analyst synthesis: competitive positioning and 2–3 year outlook are directional interpretations of the cited public evidence; no proprietary market-share or cost data used.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663440"/>
            <a:ext cx="786384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6634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300" b="1">
                <a:solidFill>
                  <a:srgbClr val="05464A"/>
                </a:solidFill>
              </a:rPr>
              <a:t>OPEN TO HEALTHCARE &amp; LIFE SCIENCES CONSULTING ROLES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5486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Shruti Sharma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" y="5943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Intelligence &amp; Market Research | Healthcare &amp; Life Sciences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8138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linkedin.com/in/shruti-sharma-969761192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84124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shrutibsr97@gmail.com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2026-08-23T15:59:38Z</dcterms:created>
  <dcterms:modified xsi:type="dcterms:W3CDTF">2026-08-23T15:59:38Z</dcterms:modified>
</cp:coreProperties>
</file>